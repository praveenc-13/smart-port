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vertBarState="maximized">
    <p:restoredLeft sz="16962" autoAdjust="0"/>
    <p:restoredTop sz="94660"/>
  </p:normalViewPr>
  <p:slideViewPr>
    <p:cSldViewPr>
      <p:cViewPr>
        <p:scale>
          <a:sx n="100" d="100"/>
          <a:sy n="100" d="100"/>
        </p:scale>
        <p:origin x="36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Ref idx="1002">
        <a:schemeClr val="bg2"/>
      </p:bgRef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anchor="b" bIns="0" rIns="18288" tIns="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b="1" sz="560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586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algn="r" indent="0" marL="0" marR="45720">
              <a:buNone/>
              <a:defRPr>
                <a:solidFill>
                  <a:schemeClr val="tx1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48587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588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Ref idx="1002">
        <a:schemeClr val="bg2"/>
      </p:bgRef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anchor="b" bIns="0" tIns="0" vert="horz">
            <a:no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baseline="0" b="1" cap="none" dirty="0" sz="5600" lang="en-US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47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anchor="t" lIns="45720" rIns="45720"/>
          <a:lstStyle>
            <a:lvl1pPr indent="0" marL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65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5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anchor="b" tIns="45720"/>
          <a:p>
            <a:r>
              <a:rPr kumimoji="0" lang="en-US"/>
              <a:t>Click to edit Master title style</a:t>
            </a:r>
          </a:p>
        </p:txBody>
      </p:sp>
      <p:sp>
        <p:nvSpPr>
          <p:cNvPr id="104865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anchor="ctr" bIns="0" lIns="45720" rIns="45720" tIns="0">
            <a:noAutofit/>
          </a:bodyPr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anchor="ctr" bIns="0" lIns="45720" rIns="45720" tIns="0"/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60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6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6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6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anchor="b" bIns="0" tIns="4572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b="0" sz="50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2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2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6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anchor="b" lIns="0">
            <a:noAutofit/>
          </a:bodyPr>
          <a:lstStyle>
            <a:lvl1pPr algn="l" rtl="0">
              <a:spcBef>
                <a:spcPct val="0"/>
              </a:spcBef>
              <a:buNone/>
              <a:defRPr b="0" sz="26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69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algn="l" indent="0" marL="0">
              <a:buNone/>
              <a:defRPr sz="1400"/>
            </a:lvl1pPr>
            <a:lvl2pPr algn="l" indent="0">
              <a:buNone/>
              <a:defRPr sz="1200"/>
            </a:lvl2pPr>
            <a:lvl3pPr algn="l" indent="0">
              <a:buNone/>
              <a:defRPr sz="1000"/>
            </a:lvl3pPr>
            <a:lvl4pPr algn="l" indent="0">
              <a:buNone/>
              <a:defRPr sz="900"/>
            </a:lvl4pPr>
            <a:lvl5pPr algn="l" indent="0">
              <a:buNone/>
              <a:defRPr sz="9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70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algn="tl" blurRad="63500" dir="7500000" dist="38500" kx="100000" rotWithShape="0" sx="98500" sy="10008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63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/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algn="tl" blurRad="19685" dir="12900000" dist="6350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anchor="b" bIns="45720" lIns="45720" rIns="45720" tIns="45720" vert="horz"/>
          <a:lstStyle>
            <a:lvl1pPr algn="l">
              <a:buNone/>
              <a:defRPr b="1" sz="2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3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anchor="t" bIns="45720" lIns="64008" rIns="45720"/>
          <a:lstStyle>
            <a:lvl1pPr algn="l" indent="0" marL="0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3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  <p:sp>
        <p:nvSpPr>
          <p:cNvPr id="1048638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/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indent="0" marL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dirty="0" kumimoji="0" lang="en-US"/>
          </a:p>
        </p:txBody>
      </p:sp>
      <p:sp>
        <p:nvSpPr>
          <p:cNvPr id="1048639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640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64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p>
            <a:r>
              <a:rPr kumimoji="0" lang="en-US"/>
              <a:t>Click to edit Master title style</a:t>
            </a:r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/>
        </p:spPr>
        <p:txBody>
          <a:bodyPr anchor="b" bIns="0" lIns="0" rIns="0" vert="horz">
            <a:normAutofit/>
          </a:bodyPr>
          <a:p>
            <a:r>
              <a:rPr kumimoji="0" lang="en-US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/>
              <a:t>Click to edit Master text styles</a:t>
            </a:r>
          </a:p>
          <a:p>
            <a:pPr eaLnBrk="1" hangingPunct="1" latinLnBrk="0" lvl="1"/>
            <a:r>
              <a:rPr kumimoji="0" lang="en-US"/>
              <a:t>Second level</a:t>
            </a:r>
          </a:p>
          <a:p>
            <a:pPr eaLnBrk="1" hangingPunct="1" latinLnBrk="0" lvl="2"/>
            <a:r>
              <a:rPr kumimoji="0" lang="en-US"/>
              <a:t>Third level</a:t>
            </a:r>
          </a:p>
          <a:p>
            <a:pPr eaLnBrk="1" hangingPunct="1" latinLnBrk="0" lvl="3"/>
            <a:r>
              <a:rPr kumimoji="0" lang="en-US"/>
              <a:t>Fourth level</a:t>
            </a:r>
          </a:p>
          <a:p>
            <a:pPr eaLnBrk="1" hangingPunct="1" latinLnBrk="0" lvl="4"/>
            <a:r>
              <a:rPr kumimoji="0" lang="en-US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/>
        </p:spPr>
        <p:txBody>
          <a:bodyPr anchor="b" bIns="0" lIns="0" rIns="0" tIns="0" vert="horz"/>
          <a:lstStyle>
            <a:lvl1pPr algn="r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 latinLnBrk="0" rtl="0">
        <a:spcBef>
          <a:spcPct val="0"/>
        </a:spcBef>
        <a:buNone/>
        <a:defRPr b="0" sz="5000" kern="1200" kumimoji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46888" latinLnBrk="0" marL="640080" rtl="0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46888" latinLnBrk="0" marL="914400" rtl="0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10312" latinLnBrk="0" marL="1188720" rtl="0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210312" latinLnBrk="0" marL="1463040" rtl="0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210312" latinLnBrk="0" marL="1737360" rtl="0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20240" rtl="0">
        <a:spcBef>
          <a:spcPct val="20000"/>
        </a:spcBef>
        <a:buClr>
          <a:schemeClr val="accent6"/>
        </a:buClr>
        <a:buSzPct val="80000"/>
        <a:buFont typeface="Wingdings 2"/>
        <a:buChar char=""/>
        <a:defRPr baseline="0"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94560" rtl="0">
        <a:spcBef>
          <a:spcPct val="20000"/>
        </a:spcBef>
        <a:buClr>
          <a:schemeClr val="tx2"/>
        </a:buClr>
        <a:buChar char="•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468880" rtl="0">
        <a:spcBef>
          <a:spcPct val="20000"/>
        </a:spcBef>
        <a:buClr>
          <a:schemeClr val="tx2"/>
        </a:buClr>
        <a:buFontTx/>
        <a:buChar char="•"/>
        <a:defRPr baseline="0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209800"/>
          </a:xfrm>
        </p:spPr>
        <p:txBody>
          <a:bodyPr>
            <a:normAutofit/>
          </a:bodyPr>
          <a:p>
            <a:pPr algn="ctr"/>
            <a:r>
              <a:rPr dirty="0" lang="en-US"/>
              <a:t>        </a:t>
            </a:r>
            <a:br>
              <a:rPr dirty="0" lang="en-US"/>
            </a:br>
            <a:br>
              <a:rPr dirty="0" lang="en-US"/>
            </a:br>
            <a:br>
              <a:rPr dirty="0" lang="en-US"/>
            </a:br>
            <a:br>
              <a:rPr dirty="0" lang="en-US"/>
            </a:br>
            <a:br>
              <a:rPr dirty="0" lang="en-US"/>
            </a:br>
            <a:br>
              <a:rPr dirty="0" lang="en-US"/>
            </a:br>
            <a:r>
              <a:rPr dirty="0" sz="2700" lang="en-US"/>
              <a:t>HKBK College of Engineering</a:t>
            </a:r>
            <a:br>
              <a:rPr dirty="0" sz="2700" lang="en-US"/>
            </a:br>
            <a:r>
              <a:rPr dirty="0" sz="2700" lang="en-US"/>
              <a:t>Department of Computer Science and Engineering</a:t>
            </a:r>
            <a:br>
              <a:rPr dirty="0" lang="en-US"/>
            </a:br>
            <a:r>
              <a:rPr altLang="kn-IN" dirty="0" sz="2800" lang="en-US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Self-Evolving AI System for Smart Ports.</a:t>
            </a:r>
            <a:endParaRPr dirty="0" sz="200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>
          <a:xfrm>
            <a:off x="457200" y="3581400"/>
            <a:ext cx="8458200" cy="2743200"/>
          </a:xfrm>
        </p:spPr>
        <p:txBody>
          <a:bodyPr>
            <a:normAutofit fontScale="92308" lnSpcReduction="20000"/>
          </a:bodyPr>
          <a:p>
            <a:pPr algn="l"/>
            <a:r>
              <a:rPr dirty="0" lang="en-US"/>
              <a:t>Presented by					        Guided by</a:t>
            </a:r>
          </a:p>
          <a:p>
            <a:pPr algn="l"/>
            <a:r>
              <a:rPr dirty="0" lang="en-US"/>
              <a:t>1.</a:t>
            </a:r>
            <a:r>
              <a:rPr dirty="0" lang="en-IN"/>
              <a:t>NAMRATHA (1HK23CS107)</a:t>
            </a:r>
          </a:p>
          <a:p>
            <a:pPr algn="l"/>
            <a:r>
              <a:rPr dirty="0" lang="en-US"/>
              <a:t>2.</a:t>
            </a:r>
            <a:r>
              <a:rPr dirty="0" lang="en-IN"/>
              <a:t>POOJA SURVE (1HK23CS116)</a:t>
            </a:r>
          </a:p>
          <a:p>
            <a:pPr algn="l"/>
            <a:r>
              <a:rPr dirty="0" lang="en-US"/>
              <a:t>3.</a:t>
            </a:r>
            <a:r>
              <a:rPr dirty="0" lang="en-IN"/>
              <a:t>POOJA V (1HK23CS117)</a:t>
            </a:r>
            <a:endParaRPr dirty="0" lang="en-US"/>
          </a:p>
          <a:p>
            <a:pPr algn="l"/>
            <a:r>
              <a:rPr dirty="0" lang="en-US"/>
              <a:t>4.</a:t>
            </a:r>
            <a:r>
              <a:rPr dirty="0" lang="en-IN"/>
              <a:t>PRAVEEN C (1HK23CS121)</a:t>
            </a:r>
            <a:endParaRPr dirty="0" lang="en-US"/>
          </a:p>
          <a:p>
            <a:pPr algn="l" indent="-514350" marL="514350"/>
            <a:r>
              <a:rPr dirty="0" lang="en-US"/>
              <a:t>									                   							Date:</a:t>
            </a:r>
          </a:p>
        </p:txBody>
      </p:sp>
      <p:sp>
        <p:nvSpPr>
          <p:cNvPr id="1048592" name="Oval 3"/>
          <p:cNvSpPr/>
          <p:nvPr/>
        </p:nvSpPr>
        <p:spPr>
          <a:xfrm>
            <a:off x="7924800" y="0"/>
            <a:ext cx="1219200" cy="1143000"/>
          </a:xfrm>
          <a:prstGeom prst="ellipse"/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lang="en-US"/>
              <a:t>I</a:t>
            </a:r>
            <a:r>
              <a:rPr baseline="30000" dirty="0" lang="en-US"/>
              <a:t>st </a:t>
            </a:r>
            <a:r>
              <a:rPr dirty="0" sz="1600" lang="en-US"/>
              <a:t>Review</a:t>
            </a:r>
            <a:r>
              <a:rPr dirty="0" lang="en-US"/>
              <a:t> </a:t>
            </a:r>
          </a:p>
        </p:txBody>
      </p:sp>
      <p:sp>
        <p:nvSpPr>
          <p:cNvPr id="1048593" name="TextBox 4"/>
          <p:cNvSpPr txBox="1"/>
          <p:nvPr/>
        </p:nvSpPr>
        <p:spPr>
          <a:xfrm>
            <a:off x="6057230" y="3903866"/>
            <a:ext cx="2629570" cy="1615439"/>
          </a:xfrm>
          <a:prstGeom prst="rect"/>
          <a:noFill/>
        </p:spPr>
        <p:txBody>
          <a:bodyPr rtlCol="0" wrap="square">
            <a:spAutoFit/>
          </a:bodyPr>
          <a:p>
            <a:pPr algn="ctr" rtl="0"/>
            <a:r>
              <a:rPr b="1" dirty="0" sz="1800" i="0" lang="en-IN" strike="noStrike" u="none">
                <a:effectLst/>
                <a:latin typeface="Times New Roman" panose="02020603050405020304" pitchFamily="18" charset="0"/>
              </a:rPr>
              <a:t>Under the Guidance of</a:t>
            </a:r>
            <a:endParaRPr dirty="0" lang="en-IN">
              <a:effectLst/>
            </a:endParaRPr>
          </a:p>
          <a:p>
            <a:pPr algn="ctr" rtl="0"/>
            <a:r>
              <a:rPr b="0" dirty="0" sz="1800" i="0" lang="en-IN" err="1" strike="noStrike" u="none">
                <a:effectLst/>
                <a:latin typeface="Times New Roman" panose="02020603050405020304" pitchFamily="18" charset="0"/>
              </a:rPr>
              <a:t>Prof.Shimja</a:t>
            </a:r>
            <a:r>
              <a:rPr b="0" dirty="0" sz="1800" i="0" lang="en-IN" strike="noStrike" u="none">
                <a:effectLst/>
                <a:latin typeface="Times New Roman" panose="02020603050405020304" pitchFamily="18" charset="0"/>
              </a:rPr>
              <a:t> KJ </a:t>
            </a:r>
            <a:endParaRPr dirty="0" lang="en-IN">
              <a:effectLst/>
            </a:endParaRPr>
          </a:p>
          <a:p>
            <a:pPr algn="ctr" rtl="0"/>
            <a:r>
              <a:rPr b="0" dirty="0" sz="1800" i="0" lang="en-IN" strike="noStrike" u="none">
                <a:effectLst/>
                <a:latin typeface="Times New Roman" panose="02020603050405020304" pitchFamily="18" charset="0"/>
              </a:rPr>
              <a:t>Assistant Professor </a:t>
            </a:r>
            <a:endParaRPr dirty="0" lang="en-IN">
              <a:effectLst/>
            </a:endParaRPr>
          </a:p>
          <a:p>
            <a:pPr algn="ctr" rtl="0"/>
            <a:r>
              <a:rPr b="0" dirty="0" sz="1800" i="0" lang="en-IN" strike="noStrike" u="none">
                <a:effectLst/>
                <a:latin typeface="Times New Roman" panose="02020603050405020304" pitchFamily="18" charset="0"/>
              </a:rPr>
              <a:t>Dept. of CSE, HKBKCE</a:t>
            </a:r>
            <a:endParaRPr dirty="0" lang="en-IN">
              <a:effectLst/>
            </a:endParaRPr>
          </a:p>
          <a:p>
            <a:pPr algn="ctr"/>
            <a:endParaRPr dirty="0" lang="en-US"/>
          </a:p>
        </p:txBody>
      </p:sp>
      <p:sp>
        <p:nvSpPr>
          <p:cNvPr id="1048594" name="TextBox 5"/>
          <p:cNvSpPr txBox="1"/>
          <p:nvPr/>
        </p:nvSpPr>
        <p:spPr>
          <a:xfrm>
            <a:off x="6553200" y="5939921"/>
            <a:ext cx="1828800" cy="396240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dirty="0" lang="en-IN"/>
              <a:t>09/18/2025</a:t>
            </a:r>
            <a:endParaRPr dirty="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Abstract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0" dirty="0" sz="3200" i="0" lang="en-IN">
                <a:effectLst/>
                <a:latin typeface="fkGroteskNeue"/>
              </a:rPr>
              <a:t>AI system that learns and improves port workflows automatically</a:t>
            </a:r>
          </a:p>
          <a:p>
            <a:r>
              <a:rPr b="0" dirty="0" sz="3200" i="0" lang="en-IN">
                <a:effectLst/>
                <a:latin typeface="fkGroteskNeue"/>
              </a:rPr>
              <a:t>Uses meta-learning and digital twins for safe testing</a:t>
            </a:r>
          </a:p>
          <a:p>
            <a:r>
              <a:rPr b="0" dirty="0" sz="3200" i="0" lang="en-IN">
                <a:effectLst/>
                <a:latin typeface="fkGroteskNeue"/>
              </a:rPr>
              <a:t>Continuously optimizes port operations without manual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Introduction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Ports = backbone of global trade, handling massive cargo volumes daily</a:t>
            </a:r>
            <a:endParaRPr dirty="0" lang="en-IN"/>
          </a:p>
          <a:p>
            <a:r>
              <a:rPr dirty="0" lang="en-US"/>
              <a:t>Problems: congestion, resource mismanagement, equipment failures, and unpredictable delays.</a:t>
            </a:r>
            <a:endParaRPr dirty="0" lang="en-IN"/>
          </a:p>
          <a:p>
            <a:r>
              <a:rPr dirty="0" lang="en-US"/>
              <a:t> Traditional methods rely on human oversight and past data → lack adaptability</a:t>
            </a:r>
            <a:endParaRPr dirty="0" lang="en-IN"/>
          </a:p>
          <a:p>
            <a:r>
              <a:rPr dirty="0" lang="en-US"/>
              <a:t>AI + simulation can provide predictive insights, but need continuous evolution for future-ready 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4000"/>
          </a:bodyPr>
          <a:p>
            <a:r>
              <a:rPr dirty="0" lang="en-US"/>
              <a:t>Literature Survey – Limitations </a:t>
            </a:r>
          </a:p>
        </p:txBody>
      </p:sp>
      <p:graphicFrame>
        <p:nvGraphicFramePr>
          <p:cNvPr id="4194304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58339"/>
          <a:ext cx="82219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424"/>
                <a:gridCol w="2451368"/>
                <a:gridCol w="1644396"/>
                <a:gridCol w="1644396"/>
                <a:gridCol w="1644396"/>
              </a:tblGrid>
              <a:tr h="635496">
                <a:tc>
                  <a:txBody>
                    <a:bodyPr/>
                    <a:p>
                      <a:r>
                        <a:rPr dirty="0" lang="en-US" err="1"/>
                        <a:t>S.No</a:t>
                      </a:r>
                      <a:r>
                        <a:rPr dirty="0" lang="en-US"/>
                        <a:t>.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Title of the Paper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aseline="0" dirty="0" lang="en-US"/>
                        <a:t>Algorithm Used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Parameter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Efficiency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1.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pPr indent="0" marL="0">
                        <a:buFont typeface="Arial" panose="020B0604020202020204" pitchFamily="34" charset="0"/>
                        <a:buNone/>
                      </a:pPr>
                      <a:r>
                        <a:rPr dirty="0" sz="1400" lang="en-US"/>
                        <a:t>Smart Ports: Utilizing AI-Driven Predictive Analytics and Simulation for Operational Excellence (IEEE 2024)</a:t>
                      </a:r>
                      <a:r>
                        <a:rPr altLang="en-GB" dirty="0" sz="1400" lang="en-US"/>
                        <a:t>B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k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 </a:t>
                      </a:r>
                      <a:r>
                        <a:rPr altLang="en-GB" dirty="0" sz="1400" lang="en-US"/>
                        <a:t>J</a:t>
                      </a:r>
                      <a:r>
                        <a:rPr altLang="en-GB" dirty="0" sz="1400" lang="en-US"/>
                        <a:t> </a:t>
                      </a:r>
                      <a:r>
                        <a:rPr altLang="en-GB" dirty="0" sz="1400" lang="en-US"/>
                        <a:t>c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,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.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t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v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,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r</a:t>
                      </a:r>
                      <a:r>
                        <a:rPr altLang="en-GB" dirty="0" sz="1400" lang="en-US"/>
                        <a:t>g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 </a:t>
                      </a:r>
                      <a:r>
                        <a:rPr altLang="en-GB" dirty="0" sz="1400" lang="en-US"/>
                        <a:t>k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u</a:t>
                      </a:r>
                      <a:r>
                        <a:rPr altLang="en-GB" dirty="0" sz="1400" lang="en-US"/>
                        <a:t>r</a:t>
                      </a:r>
                      <a:r>
                        <a:rPr altLang="en-GB" dirty="0" sz="1400" lang="en-US"/>
                        <a:t> </a:t>
                      </a:r>
                      <a:r>
                        <a:rPr altLang="en-GB" dirty="0" sz="1400" lang="en-US"/>
                        <a:t>G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r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,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.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t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l</a:t>
                      </a:r>
                      <a:r>
                        <a:rPr altLang="en-GB" dirty="0" sz="1400" lang="en-US"/>
                        <a:t>p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d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 </a:t>
                      </a:r>
                      <a:r>
                        <a:rPr altLang="en-GB" dirty="0" sz="1400" lang="en-US"/>
                        <a:t>D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p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rtment </a:t>
                      </a:r>
                      <a:r>
                        <a:rPr altLang="en-GB" dirty="0" sz="1400" lang="en-US"/>
                        <a:t>of </a:t>
                      </a:r>
                      <a:r>
                        <a:rPr altLang="en-GB" dirty="0" sz="1400" lang="en-US"/>
                        <a:t>C</a:t>
                      </a:r>
                      <a:r>
                        <a:rPr altLang="en-GB" dirty="0" sz="1400" lang="en-US"/>
                        <a:t>S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,</a:t>
                      </a:r>
                      <a:r>
                        <a:rPr altLang="en-GB" dirty="0" sz="1400" lang="en-US"/>
                        <a:t>c</a:t>
                      </a:r>
                      <a:r>
                        <a:rPr altLang="en-GB" dirty="0" sz="1400" lang="en-US"/>
                        <a:t>h</a:t>
                      </a:r>
                      <a:r>
                        <a:rPr altLang="en-GB" dirty="0" sz="1400" lang="en-US"/>
                        <a:t>e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a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,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n</a:t>
                      </a:r>
                      <a:r>
                        <a:rPr altLang="en-GB" dirty="0" sz="1400" lang="en-US"/>
                        <a:t>d</a:t>
                      </a:r>
                      <a:r>
                        <a:rPr altLang="en-GB" dirty="0" sz="1400" lang="en-US"/>
                        <a:t>i</a:t>
                      </a:r>
                      <a:r>
                        <a:rPr altLang="en-GB" dirty="0" sz="1400" lang="en-US"/>
                        <a:t>a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Random Forest, LSTM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Turnaround time, throughput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↑ Efficiency, ↓ delays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2.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Truck Routing (</a:t>
                      </a:r>
                      <a:r>
                        <a:rPr dirty="0" sz="1400" lang="en-US" err="1"/>
                        <a:t>Adi</a:t>
                      </a:r>
                      <a:r>
                        <a:rPr dirty="0" sz="1400" lang="en-US"/>
                        <a:t> et al., 2020)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Deep R</a:t>
                      </a:r>
                      <a:r>
                        <a:rPr dirty="0" sz="1400" lang="en-IN"/>
                        <a:t>L</a:t>
                      </a:r>
                      <a:endParaRPr dirty="0" sz="140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Routing, fuel use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Faster routes, cost saving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3.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Maritime Anomaly Detection (2022)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SVM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IN"/>
                        <a:t>Ship trajectory</a:t>
                      </a:r>
                      <a:endParaRPr dirty="0" sz="140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Better hazard detection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4.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Shipping Ops Optimization (2021)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IN"/>
                        <a:t>Deep Learning</a:t>
                      </a:r>
                      <a:endParaRPr dirty="0" sz="140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Equipment fail</a:t>
                      </a:r>
                      <a:r>
                        <a:rPr dirty="0" sz="1400" lang="en-IN" err="1"/>
                        <a:t>ures</a:t>
                      </a:r>
                      <a:endParaRPr dirty="0" sz="140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Less downtime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5.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E-Navigation (2020)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IN"/>
                        <a:t>Real-time Data (AIS/ECDIS)</a:t>
                      </a:r>
                      <a:endParaRPr dirty="0" sz="140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Route planning	Safer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less delay</a:t>
                      </a:r>
                    </a:p>
                  </a:txBody>
                </a:tc>
              </a:tr>
              <a:tr h="368184">
                <a:tc>
                  <a:txBody>
                    <a:bodyPr/>
                    <a:p>
                      <a:pPr indent="0" marL="0">
                        <a:buFont typeface="+mj-lt"/>
                        <a:buNone/>
                      </a:pPr>
                      <a:r>
                        <a:rPr dirty="0" lang="en-IN"/>
                        <a:t>6.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IN"/>
                        <a:t>Proposed Work (Novel)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Me</a:t>
                      </a:r>
                      <a:r>
                        <a:rPr dirty="0" sz="1400" lang="en-IN"/>
                        <a:t>t</a:t>
                      </a:r>
                      <a:r>
                        <a:rPr dirty="0" sz="1400" lang="en-US"/>
                        <a:t>a</a:t>
                      </a:r>
                      <a:r>
                        <a:rPr dirty="0" sz="1400" lang="en-IN"/>
                        <a:t>-</a:t>
                      </a:r>
                      <a:r>
                        <a:rPr dirty="0" sz="1400" lang="en-US"/>
                        <a:t>Learning + Digital Twin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Workflow evolution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US"/>
                        <a:t>Self-adaptive system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pPr algn="ctr"/>
            <a:r>
              <a:rPr dirty="0" sz="4400" lang="en-US"/>
              <a:t>Existing System – Problem Statement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389120"/>
          </a:xfrm>
        </p:spPr>
        <p:txBody>
          <a:bodyPr/>
          <a:p>
            <a:r>
              <a:rPr dirty="0" lang="en-US"/>
              <a:t>Current smart port systems predict issues but do not evolve with changing data</a:t>
            </a:r>
            <a:endParaRPr dirty="0" lang="en-IN"/>
          </a:p>
          <a:p>
            <a:r>
              <a:rPr dirty="0" lang="en-US"/>
              <a:t>They are reactive, not proactive</a:t>
            </a:r>
            <a:endParaRPr dirty="0" lang="en-IN"/>
          </a:p>
          <a:p>
            <a:r>
              <a:rPr dirty="0" lang="en-IN"/>
              <a:t>-</a:t>
            </a:r>
            <a:r>
              <a:rPr dirty="0" lang="en-US"/>
              <a:t>Challenges identified:</a:t>
            </a:r>
            <a:endParaRPr dirty="0" lang="en-IN"/>
          </a:p>
          <a:p>
            <a:r>
              <a:rPr dirty="0" lang="en-US"/>
              <a:t>Lack of adaptability to sudden cargo surges or equipment breakdown</a:t>
            </a:r>
            <a:endParaRPr dirty="0" lang="en-IN"/>
          </a:p>
          <a:p>
            <a:r>
              <a:rPr dirty="0" lang="en-US"/>
              <a:t>Workflow optimization limited to pre-defined rules</a:t>
            </a:r>
            <a:endParaRPr dirty="0" lang="en-IN"/>
          </a:p>
          <a:p>
            <a:r>
              <a:rPr dirty="0" lang="en-US"/>
              <a:t>High human dependency for updates and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dirty="0" lang="en-US"/>
              <a:t>Objectives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Develop a meta-learning AI model capable of self-improvement.</a:t>
            </a:r>
            <a:endParaRPr dirty="0" lang="en-IN"/>
          </a:p>
          <a:p>
            <a:r>
              <a:rPr dirty="0" lang="en-US"/>
              <a:t>Design a Digital Twin that mirrors real-world port operations virtually.</a:t>
            </a:r>
            <a:endParaRPr dirty="0" lang="en-IN"/>
          </a:p>
          <a:p>
            <a:r>
              <a:rPr dirty="0" lang="en-US"/>
              <a:t>Implement automated A/B testing to compare workflow changes in simulation</a:t>
            </a:r>
            <a:endParaRPr dirty="0" lang="en-IN"/>
          </a:p>
          <a:p>
            <a:r>
              <a:rPr dirty="0" lang="en-US"/>
              <a:t>Achieve autonomous workflow evolution → better efficiency, lower costs, minimal delays.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p>
            <a:pPr algn="ctr"/>
            <a:r>
              <a:rPr dirty="0" lang="en-US"/>
              <a:t>Proposed System 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Self-Evolving AI Core: Learns how to improve its own optimization strategies</a:t>
            </a:r>
            <a:endParaRPr dirty="0" lang="en-IN"/>
          </a:p>
          <a:p>
            <a:r>
              <a:rPr dirty="0" lang="en-US"/>
              <a:t>Digital Twin Simulation: Tests proposed workflows virtually without real-world risks</a:t>
            </a:r>
            <a:endParaRPr dirty="0" lang="en-IN"/>
          </a:p>
          <a:p>
            <a:r>
              <a:rPr dirty="0" lang="en-US"/>
              <a:t>Automated A/B Testing: Compares multiple workflow variations to select best outcome</a:t>
            </a:r>
            <a:endParaRPr dirty="0" lang="en-IN"/>
          </a:p>
          <a:p>
            <a:r>
              <a:rPr dirty="0" lang="en-US"/>
              <a:t>Feedback Loop: Real-world results feed back into AI for continuous evolution</a:t>
            </a:r>
            <a:endParaRPr dirty="0" lang="en-IN"/>
          </a:p>
          <a:p>
            <a:r>
              <a:rPr dirty="0" lang="en-US"/>
              <a:t>Key Focus: Cargo handling, berth allocation, and resource utilization.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 Proposed Algorithm Used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dirty="0" lang="en-US"/>
              <a:t>Meta-Learning with Predictive Analytics: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Collect operational data (ships, cargo, weather, equipment)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Apply predictive models (LSTM, RF, SVM) for forecasting.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Meta-learning AI generates workflow variations.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Test workflows in Digital Twin simulation.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Run A/B testing → choose best performing workflow.</a:t>
            </a:r>
            <a:endParaRPr dirty="0" lang="en-IN"/>
          </a:p>
          <a:p>
            <a:pPr indent="-514350" marL="514350">
              <a:buFont typeface="+mj-lt"/>
              <a:buAutoNum type="arabicPeriod"/>
            </a:pPr>
            <a:r>
              <a:rPr dirty="0" lang="en-US"/>
              <a:t>Deploy in real-world → feedback loop updates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 fontScale="90000"/>
          </a:bodyPr>
          <a:p>
            <a:r>
              <a:rPr dirty="0" lang="en-US"/>
              <a:t>Proposed System – Functional architectural Diagram</a:t>
            </a:r>
          </a:p>
        </p:txBody>
      </p:sp>
      <p:pic>
        <p:nvPicPr>
          <p:cNvPr id="209715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71487" y="1524000"/>
            <a:ext cx="6156675" cy="53340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1143000"/>
          </a:xfrm>
        </p:spPr>
        <p:txBody>
          <a:bodyPr>
            <a:normAutofit fontScale="90000"/>
          </a:bodyPr>
          <a:p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dirty="0" sz="5600" lang="en-IE"/>
            </a:br>
            <a:br>
              <a:rPr b="1" dirty="0" lang="en-US"/>
            </a:br>
            <a:r>
              <a:rPr dirty="0" sz="5400" lang="en-IE"/>
              <a:t> Project </a:t>
            </a:r>
            <a:r>
              <a:rPr dirty="0" sz="4000" lang="en-IE"/>
              <a:t>Specification(Hardware/Software)</a:t>
            </a:r>
            <a:endParaRPr dirty="0" sz="4000" lang="en-US"/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308" lnSpcReduction="10000"/>
          </a:bodyPr>
          <a:p>
            <a:r>
              <a:rPr dirty="0" lang="en-US"/>
              <a:t>Hardware Requirements</a:t>
            </a:r>
            <a:r>
              <a:rPr dirty="0" lang="en-IN"/>
              <a:t>:</a:t>
            </a:r>
          </a:p>
          <a:p>
            <a:r>
              <a:rPr dirty="0" lang="en-US"/>
              <a:t>PC/Laptop, 8GB+ RAM, i5/i7 processor, </a:t>
            </a:r>
            <a:r>
              <a:rPr dirty="0" lang="en-US" err="1"/>
              <a:t>IoT</a:t>
            </a:r>
            <a:r>
              <a:rPr dirty="0" lang="en-US"/>
              <a:t> data simulators.</a:t>
            </a:r>
            <a:endParaRPr dirty="0" lang="en-IN"/>
          </a:p>
          <a:p>
            <a:r>
              <a:rPr dirty="0" lang="en-US"/>
              <a:t>Software Requirements:</a:t>
            </a:r>
            <a:endParaRPr dirty="0" lang="en-IN"/>
          </a:p>
          <a:p>
            <a:r>
              <a:rPr dirty="0" lang="en-US"/>
              <a:t>Python (core language)</a:t>
            </a:r>
            <a:endParaRPr dirty="0" lang="en-IN"/>
          </a:p>
          <a:p>
            <a:r>
              <a:rPr dirty="0" lang="en-US" err="1"/>
              <a:t>PyTorch</a:t>
            </a:r>
            <a:r>
              <a:rPr dirty="0" lang="en-US"/>
              <a:t>/</a:t>
            </a:r>
            <a:r>
              <a:rPr dirty="0" lang="en-US" err="1"/>
              <a:t>TensorFlow</a:t>
            </a:r>
            <a:r>
              <a:rPr dirty="0" lang="en-US"/>
              <a:t> (AI/Meta-learning models)</a:t>
            </a:r>
            <a:endParaRPr dirty="0" lang="en-IN"/>
          </a:p>
          <a:p>
            <a:r>
              <a:rPr dirty="0" lang="en-US" err="1"/>
              <a:t>SimPy</a:t>
            </a:r>
            <a:r>
              <a:rPr dirty="0" lang="en-US"/>
              <a:t> / </a:t>
            </a:r>
            <a:r>
              <a:rPr dirty="0" lang="en-US" err="1"/>
              <a:t>AnyLogic</a:t>
            </a:r>
            <a:r>
              <a:rPr dirty="0" lang="en-US"/>
              <a:t> (Simulation modeling)</a:t>
            </a:r>
            <a:endParaRPr dirty="0" lang="en-IN"/>
          </a:p>
          <a:p>
            <a:r>
              <a:rPr dirty="0" lang="en-US"/>
              <a:t>Kafka /MQTT (Real-time data streaming)</a:t>
            </a:r>
            <a:endParaRPr dirty="0" lang="en-IN"/>
          </a:p>
          <a:p>
            <a:r>
              <a:rPr dirty="0" lang="en-US"/>
              <a:t>Dash/</a:t>
            </a:r>
            <a:r>
              <a:rPr dirty="0" lang="en-US" err="1"/>
              <a:t>Plotly</a:t>
            </a:r>
            <a:r>
              <a:rPr dirty="0" lang="en-US"/>
              <a:t> (Visualization dashboard)</a:t>
            </a:r>
            <a:endParaRPr dirty="0" lang="en-IN"/>
          </a:p>
          <a:p>
            <a:r>
              <a:rPr dirty="0" lang="en-US"/>
              <a:t>Docker (Deployment &amp; containerization)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Expected Outcomes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389120"/>
          </a:xfrm>
        </p:spPr>
        <p:txBody>
          <a:bodyPr>
            <a:normAutofit/>
          </a:bodyPr>
          <a:p>
            <a:r>
              <a:rPr dirty="0" sz="3600" lang="en-US"/>
              <a:t>Reduced vessel turnaround &amp; cargo delays</a:t>
            </a:r>
            <a:r>
              <a:rPr dirty="0" sz="3600" lang="en-IN"/>
              <a:t>.</a:t>
            </a:r>
          </a:p>
          <a:p>
            <a:r>
              <a:rPr dirty="0" sz="3600" lang="en-US"/>
              <a:t>Improved resource utilization</a:t>
            </a:r>
            <a:r>
              <a:rPr dirty="0" sz="3600" lang="en-IN"/>
              <a:t>.</a:t>
            </a:r>
          </a:p>
          <a:p>
            <a:r>
              <a:rPr dirty="0" sz="3600" lang="en-US"/>
              <a:t>Adaptive, evolving AI system</a:t>
            </a:r>
            <a:r>
              <a:rPr dirty="0" sz="3600" lang="en-IN"/>
              <a:t>.</a:t>
            </a:r>
          </a:p>
          <a:p>
            <a:r>
              <a:rPr dirty="0" sz="3600" lang="en-US"/>
              <a:t>Reduced need for manual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REFERENCES 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/>
              <a:t>IEEE Base Paper: Smart Ports Utilizing AI-Driven Predictive Analytics and Simulation for Operational Excellence (2024)</a:t>
            </a:r>
            <a:r>
              <a:rPr altLang="en-GB" dirty="0" lang="en-US"/>
              <a:t> </a:t>
            </a:r>
            <a:r>
              <a:rPr altLang="en-GB" dirty="0" lang="en-US"/>
              <a:t>Balika J chelliah,A.Senthilselvi,Sarghi kaur Gahra,S.Senthilpandi Department of CSE,chennai,India</a:t>
            </a:r>
            <a:r>
              <a:rPr altLang="en-GB" dirty="0" lang="en-US"/>
              <a:t>.</a:t>
            </a:r>
            <a:endParaRPr dirty="0" lang="en-IN"/>
          </a:p>
          <a:p>
            <a:r>
              <a:rPr dirty="0" lang="en-US"/>
              <a:t>Supporting works on Meta-Learning AI and Digital Twin applications.</a:t>
            </a:r>
            <a:endParaRPr dirty="0" lang="en-IN"/>
          </a:p>
          <a:p>
            <a:r>
              <a:rPr dirty="0" lang="en-US"/>
              <a:t>Additional AI/</a:t>
            </a:r>
            <a:r>
              <a:rPr dirty="0" lang="en-US" err="1"/>
              <a:t>IoT</a:t>
            </a:r>
            <a:r>
              <a:rPr dirty="0" lang="en-US"/>
              <a:t> research papers on port automation.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389120"/>
          </a:xfrm>
        </p:spPr>
        <p:txBody>
          <a:bodyPr>
            <a:normAutofit/>
          </a:bodyPr>
          <a:p>
            <a:pPr algn="ctr">
              <a:buNone/>
            </a:pPr>
            <a:endParaRPr dirty="0" sz="7200" lang="en-US">
              <a:solidFill>
                <a:schemeClr val="tx2"/>
              </a:solidFill>
              <a:latin typeface="Arial Rounded MT Bold" pitchFamily="34" charset="0"/>
              <a:ea typeface="SimSun-ExtB" pitchFamily="49" charset="-122"/>
              <a:cs typeface="+mj-cs"/>
            </a:endParaRPr>
          </a:p>
          <a:p>
            <a:pPr algn="ctr">
              <a:buNone/>
            </a:pPr>
            <a:r>
              <a:rPr dirty="0" sz="7200" lang="en-US">
                <a:solidFill>
                  <a:schemeClr val="tx2"/>
                </a:solidFill>
                <a:latin typeface="Arial Rounded MT Bold" pitchFamily="34" charset="0"/>
                <a:ea typeface="SimSun-ExtB" pitchFamily="49" charset="-122"/>
                <a:cs typeface="+mj-cs"/>
              </a:rPr>
              <a:t>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>
            <a:noAutofit/>
          </a:bodyPr>
          <a:p>
            <a:pPr algn="ctr"/>
            <a:r>
              <a:rPr dirty="0" sz="7200" lang="en-US">
                <a:latin typeface="Arial Rounded MT Bold" pitchFamily="34" charset="0"/>
                <a:ea typeface="SimSun-ExtB" pitchFamily="49" charset="-122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lastClr="000000" val="windowText"/>
      </a:dk1>
      <a:lt1>
        <a:sysClr lastClr="FFFFFF" val="window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dir="tl" rig="glow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algn="tl" flip="none" sx="65000" sy="65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Template for Project Presentation</dc:title>
  <dc:creator>Raj</dc:creator>
  <cp:lastModifiedBy>Praveen C</cp:lastModifiedBy>
  <dcterms:created xsi:type="dcterms:W3CDTF">2021-10-20T22:13:20Z</dcterms:created>
  <dcterms:modified xsi:type="dcterms:W3CDTF">2025-09-19T05:35:51Z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9eea68b202994bb2a3dac06aa42faa9c</vt:lpwstr>
  </property>
</Properties>
</file>